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48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an Origination Automation for Faster Loan Approval">
            <a:extLst>
              <a:ext uri="{FF2B5EF4-FFF2-40B4-BE49-F238E27FC236}">
                <a16:creationId xmlns:a16="http://schemas.microsoft.com/office/drawing/2014/main" id="{31289F1B-A646-5867-9184-08435DDE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04"/>
          <a:stretch>
            <a:fillRect/>
          </a:stretch>
        </p:blipFill>
        <p:spPr>
          <a:xfrm>
            <a:off x="176850" y="148589"/>
            <a:ext cx="8768829" cy="4810273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7904" y="354331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endParaRPr lang="en-US" sz="4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7904" y="1085851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origination, approval and servicing, digitized end to end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539496" y="160020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D9541E"/>
                </a:solidFill>
                <a:latin typeface="Calibri"/>
              </a:rPr>
              <a:t>THE PROBLEM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Manual, paper-heavy loan processing means long turnaround and scattered documents.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Decisions are inconsistent and hard to trace, and missed checks or fraud raise risk.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7202B"/>
                </a:solidFill>
                <a:latin typeface="Calibri"/>
              </a:rPr>
              <a:t>LoanFlow digitizes the whole journey, from application to collection.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loan journey today, and how LoanFlow digitizes each step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188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BANK WORKFLOW (typical, illustrative)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" y="141732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566672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67840" y="141732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04416" y="141732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Collection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68752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69920" y="141732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6496" y="141732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Doc Verification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141732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08576" y="141732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Eligibility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772912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74080" y="141732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10656" y="141732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Risk Assessment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174992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76160" y="141732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12736" y="141732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Determination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13055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2336" y="213055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66672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767840" y="213055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04416" y="213055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Report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968752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169920" y="213055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6496" y="213055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Servicing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370832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0" y="213055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08576" y="213055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&amp; Collection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772912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974080" y="213055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10656" y="213055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" y="2926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 DIGITAL WORKFLOW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15468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17202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2336" y="315468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566672" y="3246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767840" y="315468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D9541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04416" y="315468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check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2968752" y="3246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169920" y="315468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17202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206496" y="315468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verify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370832" y="3246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0" y="315468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D9541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608576" y="315468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772912" y="3246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974080" y="315468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17202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010656" y="315468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174992" y="3246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376160" y="3154680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D9541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12736" y="3154680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calc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386791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17202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02336" y="386791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approval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566672" y="3959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1767840" y="386791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D9541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804416" y="386791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report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2968752" y="3959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169920" y="386791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17202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206496" y="386791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&amp; payments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370832" y="3959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572000" y="386791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D9541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608576" y="386791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tracking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5772912" y="3959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974080" y="3867912"/>
            <a:ext cx="1219200" cy="548640"/>
          </a:xfrm>
          <a:prstGeom prst="roundRect">
            <a:avLst>
              <a:gd name="adj" fmla="val 8333"/>
            </a:avLst>
          </a:prstGeom>
          <a:solidFill>
            <a:srgbClr val="17202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010656" y="3867912"/>
            <a:ext cx="114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verify through internal applications and policy / rule engines. LoanFlow integrates these checks in one approval application and produces the assessment report for approval and audit. Illustrative flow, not any specific bank's software.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apply and track, bank employees run the whole process, and the manager gives the final loan approval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D9541E"/>
          </a:solidFill>
          <a:ln w="12700">
            <a:solidFill>
              <a:srgbClr val="D954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" y="1719072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online and uploads documents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application details, live status and document status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notifications; later views EMI and payments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28416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Employee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28416" y="1719072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process: KYC, document verification, eligibility, risk, limit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assessment report and sends the file to the manager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servicing, collection and fraud alert 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280160"/>
            <a:ext cx="2743200" cy="54864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63056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1719072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assessment report and risk alerts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final approval: approve, return or reject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approve a file they prepared (maker-checker)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119872" y="4553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 goes beyond digitizing forms: six innovations make loan decisions faster, explainable and safer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Rounded Rectangle 10"/>
          <p:cNvSpPr/>
          <p:nvPr/>
        </p:nvSpPr>
        <p:spPr>
          <a:xfrm>
            <a:off x="365760" y="128016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3716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D9541E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572768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7202B"/>
                </a:solidFill>
                <a:latin typeface="Calibri"/>
              </a:rPr>
              <a:t>One integrated approval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1901952"/>
            <a:ext cx="24871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KYC, rules, risk, limit and report run in one application.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633472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Instead of: separate systems and manual hand-offs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28016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13716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D9541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1572768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7202B"/>
                </a:solidFill>
                <a:latin typeface="Calibri"/>
              </a:rPr>
              <a:t>Explainable eligibility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1901952"/>
            <a:ext cx="24871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Policy rules return pass or fail with the reason, saved on the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2633472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Instead of: manual reading of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28016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6" y="137160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D9541E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1572768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7202B"/>
                </a:solidFill>
                <a:latin typeface="Calibri"/>
              </a:rPr>
              <a:t>Automated assessment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1901952"/>
            <a:ext cx="24871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Verification, rules, risk score and limit merged into one report for approval and audit.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633472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Instead of: reports typed by hand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01752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BE7DD"/>
          </a:solidFill>
          <a:ln>
            <a:solidFill>
              <a:srgbClr val="D9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10896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D9541E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3310127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7202B"/>
                </a:solidFill>
                <a:latin typeface="Calibri"/>
              </a:rPr>
              <a:t>Fraud &amp; anomaly risk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3639312"/>
            <a:ext cx="24871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ML flags duplicate documents, unusual applications and abnormal repayments for manual review. Never auto-rejects.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4370831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Instead of: problems found 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01752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28416" y="310896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D9541E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8416" y="3310127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7202B"/>
                </a:solidFill>
                <a:latin typeface="Calibri"/>
              </a:rPr>
              <a:t>Live status &amp; real-time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3639312"/>
            <a:ext cx="24871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Customers see application and document status; events trigger instant notifications.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6" y="4370831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Instead of: status calls and emails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01752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310896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00" b="1" i="0">
                <a:solidFill>
                  <a:srgbClr val="D9541E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3310127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17202B"/>
                </a:solidFill>
                <a:latin typeface="Calibri"/>
              </a:rPr>
              <a:t>Enforced controls &amp;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3639312"/>
            <a:ext cx="24871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Manager-only approval, maker-checker in code, full audit trail and a Power BI risk dashboard.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4370831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Instead of: weak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ARE BUILT (1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application to assessment report: each feature is a module with clear logic behind it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103120" cy="274320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4343400" cy="274320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87752" y="1188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developed: tech stack used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874520" cy="274320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76872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481328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1481328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Digital loan application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1481328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87752" y="1481328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form on Next.js, styled with Tailwind; submitted through API Gateway and saved in PostgreSQL (RDS)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481328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76872" y="1481328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Service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1901952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190195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Customer / KYC verification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1901952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87752" y="1901952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profile screen; service calls the KYC API over HTTPS; sensitive fields masked; data in PostgreSQL, cached in Redis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03720" y="1901952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76872" y="1901952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KYC Service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322576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" y="232257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 upload &amp; verification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14600" y="2322576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87752" y="2322576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uploads directly to Amazon S3 using a signed URL; file scanned; status of each document kept in PostgreSQL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03720" y="2322576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76872" y="2322576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Service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743200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" y="2743200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Policy &amp; eligibility engine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14600" y="2743200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87752" y="274320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stored as JSON per product in PostgreSQL and evaluated in service code; Redis caches the active rules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03720" y="2743200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76872" y="2743200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Risk Service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163824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8912" y="316382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Credit / risk assessment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14600" y="3163824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587752" y="3163824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scoring model called by the service; inputs from PostgreSQL and bureau API; score saved on the application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03720" y="3163824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76872" y="3163824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Risk Service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584448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8912" y="3584448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Loan amount / limit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14600" y="3584448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87752" y="3584448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in service code (income multiple minus existing EMIs, capped by policy) and shown on the Next.js approval screen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03720" y="3584448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76872" y="3584448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Risk Service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4005072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8912" y="400507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Omni approval workflow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14600" y="4005072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587752" y="4005072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in the service; each transition saved in PostgreSQL and published as an event to Kafka (AWS MSK)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03720" y="4005072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76872" y="4005072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Service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4425696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38912" y="442569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Assessment report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14600" y="4425696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587752" y="4425696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builds a PDF from stored results, saves it to S3 and serves the link through API Gateway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903720" y="4425696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976872" y="4425696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Service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ARE BUILT (2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approval to collection and monitoring: controls, events and analytics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103120" cy="274320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4343400" cy="274320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87752" y="1188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developed: tech stack used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874520" cy="274320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76872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481328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1481328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Approval hierarchy &amp; maker-checker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1481328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87752" y="1481328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(Customer, Employee, Manager) enforced by RBAC at API Gateway and in service code; same-user approval refused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481328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76872" y="1481328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Service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1901952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190195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Servicing &amp; payment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1901952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87752" y="1901952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schedule computed in service code and stored in PostgreSQL; payment events flow through Kafka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03720" y="1901952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76872" y="1901952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Servicing, Payment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322576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8912" y="232257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Collection &amp; overdue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14600" y="2322576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87752" y="2322576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 queries overdue instalments in PostgreSQL and creates follow-up tasks; Redis caches work queues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03720" y="2322576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76872" y="2322576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Service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743200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912" y="2743200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Real-time notifications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14600" y="2743200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87752" y="2743200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Kafka events; sends email / SMS through a provider and in-app alerts over WebSocket to Next.js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03720" y="2743200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76872" y="2743200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163824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8912" y="3163824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Complete audit trail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14600" y="3163824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587752" y="3163824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publishes events to Kafka; the Audit Service writes append-only rows to PostgreSQL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03720" y="3163824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76872" y="3163824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Service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584448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8912" y="3584448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Fraud / anomaly alerts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14600" y="3584448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87752" y="3584448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models read Kafka events and history; alerts go to a review queue; never auto-rejected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03720" y="3584448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76872" y="3584448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4005072"/>
            <a:ext cx="21031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8912" y="4005072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Risk analytics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14600" y="4005072"/>
            <a:ext cx="43434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587752" y="4005072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jobs aggregate PostgreSQL data into analytics tables: overdue trend, approval rate, risk mix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03720" y="4005072"/>
            <a:ext cx="187452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76872" y="4005072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4425696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38912" y="442569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Power BI dashboard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14600" y="4425696"/>
            <a:ext cx="4343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587752" y="4425696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to analytics views on an RDS read replica to show management KPIs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903720" y="4425696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976872" y="4425696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D11F7A-68F8-E427-48FA-622D8775D0E8}"/>
              </a:ext>
            </a:extLst>
          </p:cNvPr>
          <p:cNvSpPr txBox="1"/>
          <p:nvPr/>
        </p:nvSpPr>
        <p:spPr>
          <a:xfrm>
            <a:off x="365760" y="43205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 &amp; Security</a:t>
            </a:r>
            <a:endParaRPr lang="en-US" sz="2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05F59D-7380-2D56-934C-A3E016538473}"/>
              </a:ext>
            </a:extLst>
          </p:cNvPr>
          <p:cNvSpPr txBox="1"/>
          <p:nvPr/>
        </p:nvSpPr>
        <p:spPr>
          <a:xfrm>
            <a:off x="365760" y="85267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layers, safety controls, and the delivery pipeline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12D8F4-7BA9-ED39-A435-298E53B9E652}"/>
              </a:ext>
            </a:extLst>
          </p:cNvPr>
          <p:cNvSpPr/>
          <p:nvPr/>
        </p:nvSpPr>
        <p:spPr>
          <a:xfrm>
            <a:off x="320040" y="1191006"/>
            <a:ext cx="2880360" cy="2880360"/>
          </a:xfrm>
          <a:prstGeom prst="roundRect">
            <a:avLst>
              <a:gd name="adj" fmla="val 19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8724E6-5653-8937-BFFD-D1CD0181106E}"/>
              </a:ext>
            </a:extLst>
          </p:cNvPr>
          <p:cNvSpPr txBox="1"/>
          <p:nvPr/>
        </p:nvSpPr>
        <p:spPr>
          <a:xfrm>
            <a:off x="438912" y="126415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5C90F4-FC6D-D1C9-E446-E962B89948BB}"/>
              </a:ext>
            </a:extLst>
          </p:cNvPr>
          <p:cNvSpPr txBox="1"/>
          <p:nvPr/>
        </p:nvSpPr>
        <p:spPr>
          <a:xfrm>
            <a:off x="466344" y="1556766"/>
            <a:ext cx="26426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Presentation: React + TypeScript, role-based UI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API/Backend: Business logic &amp; orchestration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Identity: OAuth2 authentication  + JWT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Workflow &amp; Rules Engine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Document Processing / AI Layer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Data Layer: Applications, documents &amp; audit data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Encrypted Document Storage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Notification &amp; Audit Layer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External APIs: KYC / Credit Bureau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LOS → LMS → Core Banking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9265B9C-2973-0C47-9619-BC23266B2E47}"/>
              </a:ext>
            </a:extLst>
          </p:cNvPr>
          <p:cNvSpPr/>
          <p:nvPr/>
        </p:nvSpPr>
        <p:spPr>
          <a:xfrm>
            <a:off x="3310128" y="1191006"/>
            <a:ext cx="2880360" cy="2880360"/>
          </a:xfrm>
          <a:prstGeom prst="roundRect">
            <a:avLst>
              <a:gd name="adj" fmla="val 1905"/>
            </a:avLst>
          </a:prstGeom>
          <a:solidFill>
            <a:schemeClr val="accent2">
              <a:lumMod val="75000"/>
            </a:schemeClr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AAFF05-698D-E71C-4AF0-274F6A1E00C0}"/>
              </a:ext>
            </a:extLst>
          </p:cNvPr>
          <p:cNvSpPr txBox="1"/>
          <p:nvPr/>
        </p:nvSpPr>
        <p:spPr>
          <a:xfrm>
            <a:off x="3429000" y="126415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Control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E023EF-3091-B093-408A-5F8F5F6AF020}"/>
              </a:ext>
            </a:extLst>
          </p:cNvPr>
          <p:cNvSpPr txBox="1"/>
          <p:nvPr/>
        </p:nvSpPr>
        <p:spPr>
          <a:xfrm>
            <a:off x="3429000" y="1575054"/>
            <a:ext cx="26426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RBAC + least privilege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Maker-checker workflow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Role-based approval hierarchy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Human approval for sensitive actions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Encryption in transit &amp; at rest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Secure document upload + malware scanning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API validation + rate limiting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Centralized secrets management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Audit logging &amp; traceability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Security headers / CORS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bg1"/>
                </a:solidFill>
              </a:rPr>
              <a:t>AI prompt-injection &amp; data-leak protection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B45E73-1EFB-B80A-CCE4-A7974335632D}"/>
              </a:ext>
            </a:extLst>
          </p:cNvPr>
          <p:cNvSpPr/>
          <p:nvPr/>
        </p:nvSpPr>
        <p:spPr>
          <a:xfrm>
            <a:off x="6309360" y="1191006"/>
            <a:ext cx="2487168" cy="2880360"/>
          </a:xfrm>
          <a:prstGeom prst="roundRect">
            <a:avLst>
              <a:gd name="adj" fmla="val 22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F217D3-B4F2-B5D6-9257-413B7895C7E9}"/>
              </a:ext>
            </a:extLst>
          </p:cNvPr>
          <p:cNvSpPr txBox="1"/>
          <p:nvPr/>
        </p:nvSpPr>
        <p:spPr>
          <a:xfrm>
            <a:off x="6428232" y="126415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pipeline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1925D6-DA3E-C363-4EEC-B126A783CE53}"/>
              </a:ext>
            </a:extLst>
          </p:cNvPr>
          <p:cNvSpPr txBox="1"/>
          <p:nvPr/>
        </p:nvSpPr>
        <p:spPr>
          <a:xfrm>
            <a:off x="6428232" y="1575054"/>
            <a:ext cx="22494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code scanning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vuln. scanning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scanning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validation gate</a:t>
            </a:r>
            <a:endParaRPr lang="en-US" sz="93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deployment</a:t>
            </a:r>
            <a:endParaRPr lang="en-US" sz="93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B6DD4C-62E6-88DF-AD39-5E441FA4968F}"/>
              </a:ext>
            </a:extLst>
          </p:cNvPr>
          <p:cNvSpPr txBox="1"/>
          <p:nvPr/>
        </p:nvSpPr>
        <p:spPr>
          <a:xfrm>
            <a:off x="320040" y="4162806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→ LMS → Core Banking: on sanction, the LOS hands off approved terms to a servicing system (LMS) for repayment tracking, which in turn posts to core banking ledgers — each a distinct system of record.</a:t>
            </a:r>
            <a:endParaRPr lang="en-US" sz="9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EAEBF-FB9B-063B-B321-83D84A19E3A5}"/>
              </a:ext>
            </a:extLst>
          </p:cNvPr>
          <p:cNvSpPr txBox="1"/>
          <p:nvPr/>
        </p:nvSpPr>
        <p:spPr>
          <a:xfrm>
            <a:off x="8358319" y="4695164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95722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DEMO SCREEN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tracker: the officer sees every application, its stage and what is pending (sample data)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45720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80160"/>
            <a:ext cx="4572000" cy="256032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280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 · Applications · Bank Employee 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43891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LF-1042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Sharma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203704"/>
            <a:ext cx="1188720" cy="201168"/>
          </a:xfrm>
          <a:prstGeom prst="roundRect">
            <a:avLst>
              <a:gd name="adj" fmla="val 45455"/>
            </a:avLst>
          </a:prstGeom>
          <a:solidFill>
            <a:srgbClr val="F6AD3C"/>
          </a:solidFill>
          <a:ln w="12700">
            <a:solidFill>
              <a:srgbClr val="F6AD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22037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560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LF-1043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2560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Patil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560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12,00,000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2660904"/>
            <a:ext cx="1188720" cy="201168"/>
          </a:xfrm>
          <a:prstGeom prst="roundRect">
            <a:avLst>
              <a:gd name="adj" fmla="val 45455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0" y="2660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017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LF-1044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3017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Khan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017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3,50,000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0" y="3118104"/>
            <a:ext cx="1188720" cy="201168"/>
          </a:xfrm>
          <a:prstGeom prst="roundRect">
            <a:avLst>
              <a:gd name="adj" fmla="val 45455"/>
            </a:avLst>
          </a:prstGeom>
          <a:solidFill>
            <a:srgbClr val="D9541E"/>
          </a:solidFill>
          <a:ln w="12700">
            <a:solidFill>
              <a:srgbClr val="D954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74720" y="3118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347472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LF-1045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46304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Joshi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56032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8,00,000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3575304"/>
            <a:ext cx="1188720" cy="201168"/>
          </a:xfrm>
          <a:prstGeom prst="roundRect">
            <a:avLst>
              <a:gd name="adj" fmla="val 45455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474720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Review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023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Stage · Product · SLA breached · Fraud alert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20640" y="1280160"/>
            <a:ext cx="36576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0" y="1280160"/>
            <a:ext cx="3657600" cy="256032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212080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LF-1042 · A. Sharma · Home Loan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1664208"/>
            <a:ext cx="256032" cy="25603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30368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888736" y="1664208"/>
            <a:ext cx="256032" cy="25603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97296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455664" y="1664208"/>
            <a:ext cx="256032" cy="25603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64224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022592" y="1664208"/>
            <a:ext cx="256032" cy="25603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31152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589520" y="1664208"/>
            <a:ext cx="256032" cy="25603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98080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156448" y="1664208"/>
            <a:ext cx="256032" cy="25603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65008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525780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525780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proof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23760" y="2578608"/>
            <a:ext cx="1371600" cy="201168"/>
          </a:xfrm>
          <a:prstGeom prst="roundRect">
            <a:avLst>
              <a:gd name="adj" fmla="val 45455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22376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52578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proof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23760" y="2962656"/>
            <a:ext cx="1371600" cy="201168"/>
          </a:xfrm>
          <a:prstGeom prst="roundRect">
            <a:avLst>
              <a:gd name="adj" fmla="val 45455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223760" y="2962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525780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papers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223760" y="3346704"/>
            <a:ext cx="1371600" cy="201168"/>
          </a:xfrm>
          <a:prstGeom prst="roundRect">
            <a:avLst>
              <a:gd name="adj" fmla="val 45455"/>
            </a:avLst>
          </a:prstGeom>
          <a:solidFill>
            <a:srgbClr val="F6AD3C"/>
          </a:solidFill>
          <a:ln w="12700">
            <a:solidFill>
              <a:srgbClr val="F6AD3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223760" y="3346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525780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223760" y="3730752"/>
            <a:ext cx="1371600" cy="201168"/>
          </a:xfrm>
          <a:prstGeom prst="roundRect">
            <a:avLst>
              <a:gd name="adj" fmla="val 45455"/>
            </a:avLst>
          </a:prstGeom>
          <a:solidFill>
            <a:srgbClr val="D9541E"/>
          </a:solidFill>
          <a:ln w="12700">
            <a:solidFill>
              <a:srgbClr val="D9541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223760" y="3730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flag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525780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Eligibility: PASSED  ·  SLA: 1 day left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DEMO SCREEN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20624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148072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9904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31736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73568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screen: assessment summary, fraud alert and maker-checker decision (sample data)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LoanFlow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51206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80160"/>
            <a:ext cx="5120640" cy="256032"/>
          </a:xfrm>
          <a:prstGeom prst="rect">
            <a:avLst/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LF-1042 · Assessment Report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493776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645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(5 of 5 rules)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4937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011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100 · Medium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493776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377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amount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5,00,000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4937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743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permissible limit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6,20,000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493776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(Employee)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K., Bank Employee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937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approver (Manager)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3474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0233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023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91640" y="40233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D9541E"/>
          </a:solidFill>
          <a:ln w="12700">
            <a:solidFill>
              <a:srgbClr val="D954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91640" y="4023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40233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34640" y="4023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023360" y="4023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Manager approves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0" y="1280160"/>
            <a:ext cx="3108960" cy="1920240"/>
          </a:xfrm>
          <a:prstGeom prst="roundRect">
            <a:avLst>
              <a:gd name="adj" fmla="val 2857"/>
            </a:avLst>
          </a:prstGeom>
          <a:solidFill>
            <a:srgbClr val="FBE7DD"/>
          </a:solidFill>
          <a:ln w="12700">
            <a:solidFill>
              <a:srgbClr val="D954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06440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 · Manual review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on statement differs from form by 18%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document image seen on LF-0987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8064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0.81 · Advisory only. Officer decides.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0" y="333756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06440" y="34015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 Documents verified: Neha K.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Risk score generated: system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10:20 Sent to Manager: Neha K.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1378</Words>
  <Application>Microsoft Office PowerPoint</Application>
  <PresentationFormat>On-screen Show (16:9)</PresentationFormat>
  <Paragraphs>332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sejal sant</cp:lastModifiedBy>
  <cp:revision>8</cp:revision>
  <dcterms:created xsi:type="dcterms:W3CDTF">2026-09-28T14:00:22Z</dcterms:created>
  <dcterms:modified xsi:type="dcterms:W3CDTF">2026-09-28T14:54:47Z</dcterms:modified>
</cp:coreProperties>
</file>